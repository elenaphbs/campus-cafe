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58" r:id="rId10"/>
    <p:sldId id="259" r:id="rId11"/>
    <p:sldId id="260" r:id="rId12"/>
    <p:sldId id="261" r:id="rId13"/>
    <p:sldId id="262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9"/>
  </p:normalViewPr>
  <p:slideViewPr>
    <p:cSldViewPr snapToGrid="0" snapToObjects="1">
      <p:cViewPr varScale="1">
        <p:scale>
          <a:sx n="110" d="100"/>
          <a:sy n="110" d="100"/>
        </p:scale>
        <p:origin x="53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CAMPUS CAFE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34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EE"/>
                </a:solidFill>
                <a:latin typeface="Calibri"/>
              </a:rPr>
              <a:t>A Full-Stack Point-of-Sale System for Campus Dining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566160"/>
            <a:ext cx="2103120" cy="27432"/>
          </a:xfrm>
          <a:prstGeom prst="rect">
            <a:avLst/>
          </a:prstGeom>
          <a:solidFill>
            <a:srgbClr val="66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9BBDD"/>
                </a:solidFill>
                <a:latin typeface="Calibri"/>
              </a:rPr>
              <a:t>NEU 5001 — Final Project</a:t>
            </a:r>
            <a:br/>
            <a:r>
              <a:t>Built with Python  •  FastAPI  • 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FontTx/>
              <a:buChar char="•"/>
            </a:pPr>
            <a:r>
              <a:rPr lang="en-US" sz="1800" b="0" dirty="0">
                <a:solidFill>
                  <a:srgbClr val="4A5668"/>
                </a:solidFill>
                <a:latin typeface="Calibri"/>
              </a:rPr>
              <a:t>Class Design Deep Dive — Menu, Order, Inventory, Customer, Staff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800" b="0" dirty="0">
                <a:solidFill>
                  <a:srgbClr val="4A5668"/>
                </a:solidFill>
                <a:latin typeface="Calibri"/>
              </a:rPr>
              <a:t>Project Overview — What we built and why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800" b="0" dirty="0">
                <a:solidFill>
                  <a:srgbClr val="4A5668"/>
                </a:solidFill>
                <a:latin typeface="Calibri"/>
              </a:rPr>
              <a:t>System Architecture — How the pieces fit together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800" b="0" dirty="0">
                <a:solidFill>
                  <a:srgbClr val="4A5668"/>
                </a:solidFill>
                <a:latin typeface="Calibri"/>
              </a:rPr>
              <a:t>The Main Function — CLI application flow and thought process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800" b="0" dirty="0">
                <a:solidFill>
                  <a:srgbClr val="4A5668"/>
                </a:solidFill>
                <a:latin typeface="Calibri"/>
              </a:rPr>
              <a:t>Data Persistence — Excel-based tracking system (Special Feature)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800" b="0" dirty="0">
                <a:solidFill>
                  <a:srgbClr val="4A5668"/>
                </a:solidFill>
                <a:latin typeface="Calibri"/>
              </a:rPr>
              <a:t>Frontend Application — React web interface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800" b="0" dirty="0">
                <a:solidFill>
                  <a:srgbClr val="4A5668"/>
                </a:solidFill>
                <a:latin typeface="Calibri"/>
              </a:rPr>
              <a:t>Live Demo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88BB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Class Design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BBDD"/>
                </a:solidFill>
                <a:latin typeface="Calibri"/>
              </a:rPr>
              <a:t>Object-oriented design for Menu, Order, Inventory, Customer, and Staff</a:t>
            </a:r>
          </a:p>
        </p:txBody>
      </p:sp>
    </p:spTree>
    <p:extLst>
      <p:ext uri="{BB962C8B-B14F-4D97-AF65-F5344CB8AC3E}">
        <p14:creationId xmlns:p14="http://schemas.microsoft.com/office/powerpoint/2010/main" val="139105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Class: Menu &amp; MenuItem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backend/menu.py — Menu management with daily specials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MenuItem is a simple data class — name, price, category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Menu loads all items from Menu.xlsx on initialization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Daily Special randomly chosen via random.choice() each session, with configurable discount rate (default 20%)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Fuzzy search: get_item() ignores case and spaces, so "fruitsalad" matches "Fruit Salad"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KEY METHODS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486400" cy="4389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600"/>
              </a:lnSpc>
            </a:pPr>
            <a:r>
              <a:rPr sz="1000" b="0">
                <a:solidFill>
                  <a:srgbClr val="1A202C"/>
                </a:solidFill>
                <a:latin typeface="Courier New"/>
              </a:rPr>
              <a:t>class MenuItem:</a:t>
            </a:r>
            <a:br/>
            <a:r>
              <a:t>    def __init__(self, name, price, category):</a:t>
            </a:r>
            <a:br/>
            <a:r>
              <a:t>        self.name = name</a:t>
            </a:r>
            <a:br/>
            <a:r>
              <a:t>        self.price = price</a:t>
            </a:r>
            <a:br/>
            <a:r>
              <a:t>        self.category = category</a:t>
            </a:r>
            <a:br/>
            <a:br/>
            <a:r>
              <a:t>class Menu:</a:t>
            </a:r>
            <a:br/>
            <a:r>
              <a:t>    def __init__(self, filename="Menu.xlsx",</a:t>
            </a:r>
            <a:br/>
            <a:r>
              <a:t>                 rate=0.2):</a:t>
            </a:r>
            <a:br/>
            <a:r>
              <a:t>        self.menu = self.load_from_excel()</a:t>
            </a:r>
            <a:br/>
            <a:r>
              <a:t>        self.special_item = self.daily_special()</a:t>
            </a:r>
            <a:br/>
            <a:r>
              <a:t>        self.special_discounted_rate = rate</a:t>
            </a:r>
            <a:br/>
            <a:br/>
            <a:r>
              <a:t>    def daily_special(self):</a:t>
            </a:r>
            <a:br/>
            <a:r>
              <a:t>        return random.choice(self.menu)</a:t>
            </a:r>
            <a:br/>
            <a:br/>
            <a:r>
              <a:t>    def get_item(self, name):</a:t>
            </a:r>
            <a:br/>
            <a:r>
              <a:t>        for item in self.menu:</a:t>
            </a:r>
            <a:br/>
            <a:r>
              <a:t>            if item.name.lower().replace(" ","")</a:t>
            </a:r>
            <a:br/>
            <a:r>
              <a:t>               == name.lower().replace(" ",""):</a:t>
            </a:r>
            <a:br/>
            <a:r>
              <a:t>                return item</a:t>
            </a:r>
            <a:br/>
            <a:r>
              <a:t>        return None</a:t>
            </a:r>
            <a:br/>
            <a:br/>
            <a:r>
              <a:t>    def load_from_excel(self):</a:t>
            </a:r>
            <a:br/>
            <a:r>
              <a:t>        df = pd.read_excel('data/' + self.filename)</a:t>
            </a:r>
            <a:br/>
            <a:r>
              <a:t>        menu = []</a:t>
            </a:r>
            <a:br/>
            <a:r>
              <a:t>        for _, row in df.iterrows():</a:t>
            </a:r>
            <a:br/>
            <a:r>
              <a:t>            menu.append(MenuItem(</a:t>
            </a:r>
            <a:br/>
            <a:r>
              <a:t>                row["item_name"],</a:t>
            </a:r>
            <a:br/>
            <a:r>
              <a:t>                row["price"],</a:t>
            </a:r>
            <a:br/>
            <a:r>
              <a:t>                row["category"]))</a:t>
            </a:r>
            <a:br/>
            <a:r>
              <a:t>        return menu</a:t>
            </a:r>
          </a:p>
        </p:txBody>
      </p:sp>
    </p:spTree>
    <p:extLst>
      <p:ext uri="{BB962C8B-B14F-4D97-AF65-F5344CB8AC3E}">
        <p14:creationId xmlns:p14="http://schemas.microsoft.com/office/powerpoint/2010/main" val="292209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Class: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backend/order.py — Cart management, pricing, and tax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Items stored as a list (not dict) — each instance individually, making add/remove simple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Discount logic in get_total_after_discount() — only the daily special gets the discount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Tax rate is a class constant (0.1 = 10%), easy to adjust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save_to_excel() auto-increments order_id and appends to Orders.xlsx with timestamps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KEY METHODS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486400" cy="4389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600"/>
              </a:lnSpc>
            </a:pPr>
            <a:r>
              <a:rPr sz="1000" b="0">
                <a:solidFill>
                  <a:srgbClr val="1A202C"/>
                </a:solidFill>
                <a:latin typeface="Courier New"/>
              </a:rPr>
              <a:t>class Order:</a:t>
            </a:r>
            <a:br/>
            <a:r>
              <a:t>    def __init__(self, menu):</a:t>
            </a:r>
            <a:br/>
            <a:r>
              <a:t>        self.items = []</a:t>
            </a:r>
            <a:br/>
            <a:r>
              <a:t>        self.menu = menu</a:t>
            </a:r>
            <a:br/>
            <a:r>
              <a:t>        self.TAX_RATE = 0.1</a:t>
            </a:r>
            <a:br/>
            <a:br/>
            <a:r>
              <a:t>    def add_to_order(self, item):</a:t>
            </a:r>
            <a:br/>
            <a:r>
              <a:t>        self.items.append(item)</a:t>
            </a:r>
            <a:br/>
            <a:br/>
            <a:r>
              <a:t>    def remove_from_order(self, item):</a:t>
            </a:r>
            <a:br/>
            <a:r>
              <a:t>        self.items.remove(item)</a:t>
            </a:r>
            <a:br/>
            <a:br/>
            <a:r>
              <a:t>    def get_total_after_discount(self):</a:t>
            </a:r>
            <a:br/>
            <a:r>
              <a:t>        total = 0.0</a:t>
            </a:r>
            <a:br/>
            <a:r>
              <a:t>        for item in self.items:</a:t>
            </a:r>
            <a:br/>
            <a:r>
              <a:t>            if item == self.menu.special_item:</a:t>
            </a:r>
            <a:br/>
            <a:r>
              <a:t>                total += item.price * \</a:t>
            </a:r>
            <a:br/>
            <a:r>
              <a:t>                  (1 - self.menu.special_discounted_rate)</a:t>
            </a:r>
            <a:br/>
            <a:r>
              <a:t>            else:</a:t>
            </a:r>
            <a:br/>
            <a:r>
              <a:t>                total += item.price</a:t>
            </a:r>
            <a:br/>
            <a:r>
              <a:t>        return total</a:t>
            </a:r>
            <a:br/>
            <a:br/>
            <a:r>
              <a:t>    def get_items_num(self):</a:t>
            </a:r>
            <a:br/>
            <a:r>
              <a:t>        # Returns {MenuItem: count, ...}</a:t>
            </a:r>
            <a:br/>
            <a:r>
              <a:t>        item_counter = {}</a:t>
            </a:r>
            <a:br/>
            <a:r>
              <a:t>        for item in self.items:</a:t>
            </a:r>
            <a:br/>
            <a:r>
              <a:t>            if item not in item_counter:</a:t>
            </a:r>
            <a:br/>
            <a:r>
              <a:t>                item_counter[item] = 1</a:t>
            </a:r>
            <a:br/>
            <a:r>
              <a:t>            else:</a:t>
            </a:r>
            <a:br/>
            <a:r>
              <a:t>                item_counter[item] += 1</a:t>
            </a:r>
            <a:br/>
            <a:r>
              <a:t>        return item_counter</a:t>
            </a:r>
          </a:p>
        </p:txBody>
      </p:sp>
    </p:spTree>
    <p:extLst>
      <p:ext uri="{BB962C8B-B14F-4D97-AF65-F5344CB8AC3E}">
        <p14:creationId xmlns:p14="http://schemas.microsoft.com/office/powerpoint/2010/main" val="3619567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Class: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backend/inventory_ShuranRyu.py — Contributed by teammate Shuran Ryu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097280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Collaborative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668"/>
                </a:solidFill>
                <a:latin typeface="Calibri"/>
              </a:rPr>
              <a:t>The Inventory class was written by our classmate Shuran Ryu and merged into our codebase. This demonstrates our ability to integrate external code into a cohesive system, aligning interfaces so that main.py and other classes interact with it seamlessly.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Key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check_stock(item) → True/False — safe guard before deducting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deduct_stock(item) — decrements by 1 unit per call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restore_stock(item) — increments by 1 when order item is deleted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restock(name, amount) — staff can bulk-add any quantity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load_from_excel() / save_to_excel() — Inventory.xlsx persistence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KEY METHODS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560320"/>
            <a:ext cx="5486400" cy="33832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760"/>
              </a:lnSpc>
            </a:pPr>
            <a:r>
              <a:rPr sz="1100" b="0">
                <a:solidFill>
                  <a:srgbClr val="1A202C"/>
                </a:solidFill>
                <a:latin typeface="Courier New"/>
              </a:rPr>
              <a:t>class Inventory:</a:t>
            </a:r>
            <a:br/>
            <a:r>
              <a:t>    def __init__(self, filename="Inventory.xlsx"):</a:t>
            </a:r>
            <a:br/>
            <a:r>
              <a:t>        self.stock = self.load_from_excel()</a:t>
            </a:r>
            <a:br/>
            <a:r>
              <a:t>        # stock = {"Americano": 5, ...}</a:t>
            </a:r>
            <a:br/>
            <a:br/>
            <a:r>
              <a:t>    def check_stock(self, item):</a:t>
            </a:r>
            <a:br/>
            <a:r>
              <a:t>        return self.stock.get(item.name, 0) &gt; 0</a:t>
            </a:r>
            <a:br/>
            <a:br/>
            <a:r>
              <a:t>    def deduct_stock(self, item):</a:t>
            </a:r>
            <a:br/>
            <a:r>
              <a:t>        if self.check_stock(item):</a:t>
            </a:r>
            <a:br/>
            <a:r>
              <a:t>            self.stock[item.name] -= 1</a:t>
            </a:r>
            <a:br/>
            <a:br/>
            <a:r>
              <a:t>    def restore_stock(self, item):</a:t>
            </a:r>
            <a:br/>
            <a:r>
              <a:t>        self.stock[item.name] += 1</a:t>
            </a:r>
            <a:br/>
            <a:br/>
            <a:r>
              <a:t>    def restock(self, item_name, amount):</a:t>
            </a:r>
            <a:br/>
            <a:r>
              <a:t>        self.stock[item_name] = \</a:t>
            </a:r>
            <a:br/>
            <a:r>
              <a:t>            self.stock.get(item_name, 0) + amount</a:t>
            </a:r>
          </a:p>
        </p:txBody>
      </p:sp>
    </p:spTree>
    <p:extLst>
      <p:ext uri="{BB962C8B-B14F-4D97-AF65-F5344CB8AC3E}">
        <p14:creationId xmlns:p14="http://schemas.microsoft.com/office/powerpoint/2010/main" val="411403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Class: Customer &amp;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backend/customer.py — Loyalty program with automatic point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Auto-generated IDs: class-level counter produces unique 9-digit IDs (e.g., 000000001)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Phone as identifier: customers looked up by phone number; duplicate prevention built in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Points policy: earn 1 point per $5 spent — clear, simple, configurable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Customers class manages the collection — CRUD operations + Excel persistence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Counter syncs with max existing ID on load to prevent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KEY METHODS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486400" cy="4389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600"/>
              </a:lnSpc>
            </a:pPr>
            <a:r>
              <a:rPr sz="1000" b="0">
                <a:solidFill>
                  <a:srgbClr val="1A202C"/>
                </a:solidFill>
                <a:latin typeface="Courier New"/>
              </a:rPr>
              <a:t>class Customer:</a:t>
            </a:r>
            <a:br/>
            <a:r>
              <a:t>    counter = 0  # Class-level auto-increment</a:t>
            </a:r>
            <a:br/>
            <a:br/>
            <a:r>
              <a:t>    def __init__(self, telephone, name="",</a:t>
            </a:r>
            <a:br/>
            <a:r>
              <a:t>                 points=0, id=None):</a:t>
            </a:r>
            <a:br/>
            <a:r>
              <a:t>        if id is not None:</a:t>
            </a:r>
            <a:br/>
            <a:r>
              <a:t>            self.customer_id = id</a:t>
            </a:r>
            <a:br/>
            <a:r>
              <a:t>        else:</a:t>
            </a:r>
            <a:br/>
            <a:r>
              <a:t>            Customer.counter += 1</a:t>
            </a:r>
            <a:br/>
            <a:r>
              <a:t>            self.customer_id = \</a:t>
            </a:r>
            <a:br/>
            <a:r>
              <a:t>                str(Customer.counter).zfill(9)</a:t>
            </a:r>
            <a:br/>
            <a:br/>
            <a:r>
              <a:t>        self.telephone = telephone</a:t>
            </a:r>
            <a:br/>
            <a:r>
              <a:t>        self.points = points</a:t>
            </a:r>
            <a:br/>
            <a:r>
              <a:t>        self.earn_point_policy = 5</a:t>
            </a:r>
            <a:br/>
            <a:br/>
            <a:r>
              <a:t>    def earn_points(self, consuming):</a:t>
            </a:r>
            <a:br/>
            <a:r>
              <a:t>        # 1 point per $5 spent</a:t>
            </a:r>
            <a:br/>
            <a:r>
              <a:t>        self.points += consuming // 5</a:t>
            </a:r>
            <a:br/>
            <a:br/>
            <a:r>
              <a:t>class Customers:</a:t>
            </a:r>
            <a:br/>
            <a:r>
              <a:t>    def __init__(self, filename='Customers.xlsx'):</a:t>
            </a:r>
            <a:br/>
            <a:r>
              <a:t>        self.customers = self.load_from_excel()</a:t>
            </a:r>
            <a:br/>
            <a:br/>
            <a:r>
              <a:t>    def check_customer(self, telephone):</a:t>
            </a:r>
            <a:br/>
            <a:r>
              <a:t>        for c in self.customers:</a:t>
            </a:r>
            <a:br/>
            <a:r>
              <a:t>            if c.telephone == telephone:</a:t>
            </a:r>
            <a:br/>
            <a:r>
              <a:t>                return True</a:t>
            </a:r>
            <a:br/>
            <a:r>
              <a:t>        return False</a:t>
            </a:r>
          </a:p>
        </p:txBody>
      </p:sp>
    </p:spTree>
    <p:extLst>
      <p:ext uri="{BB962C8B-B14F-4D97-AF65-F5344CB8AC3E}">
        <p14:creationId xmlns:p14="http://schemas.microsoft.com/office/powerpoint/2010/main" val="2302319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Class: Staff &amp; Staffs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backend/staff.py — Secure staff authentication and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Same ID pattern as Customer — 9-digit auto-increment with class-level counter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Password-protected: staff must enter both ID and password to access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In the CLI, getpass hides password input for security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400" b="0">
                <a:solidFill>
                  <a:srgbClr val="4A5668"/>
                </a:solidFill>
                <a:latin typeface="Calibri"/>
              </a:rPr>
              <a:t>Staffs collection mirrors the Customers pattern: check, get, add, delete, update + Excel I/O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50292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Calibri"/>
              </a:rPr>
              <a:t>Consistent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668"/>
                </a:solidFill>
                <a:latin typeface="Calibri"/>
              </a:rPr>
              <a:t>Customer and Staff follow the same architectural template — entity class + collection class + Excel persistence. This makes the codebase predictable and easy to extend.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STAFF LOGIN FLOW (MAIN.PY)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554480"/>
            <a:ext cx="5486400" cy="2286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760"/>
              </a:lnSpc>
            </a:pPr>
            <a:r>
              <a:rPr sz="1100" b="0">
                <a:solidFill>
                  <a:srgbClr val="1A202C"/>
                </a:solidFill>
                <a:latin typeface="Courier New"/>
              </a:rPr>
              <a:t>def login_staff_system():</a:t>
            </a:r>
            <a:br/>
            <a:r>
              <a:t>    while True:</a:t>
            </a:r>
            <a:br/>
            <a:r>
              <a:t>        id = input("Enter staff id: ")</a:t>
            </a:r>
            <a:br/>
            <a:br/>
            <a:r>
              <a:t>        if not staffs.check_staff(id):</a:t>
            </a:r>
            <a:br/>
            <a:r>
              <a:t>            print("Invalid input")</a:t>
            </a:r>
            <a:br/>
            <a:r>
              <a:t>            continue</a:t>
            </a:r>
            <a:br/>
            <a:br/>
            <a:r>
              <a:t>        staff = staffs.get_staff(id)</a:t>
            </a:r>
            <a:br/>
            <a:r>
              <a:t>        pwd = getpass("Enter password:")</a:t>
            </a:r>
            <a:br/>
            <a:br/>
            <a:r>
              <a:t>        if pwd == staff.password:</a:t>
            </a:r>
            <a:br/>
            <a:r>
              <a:t>            staff_menu()</a:t>
            </a:r>
            <a:br/>
            <a:r>
              <a:t>          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SESSION QUIT — SUMMARY ON EXIT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297680"/>
            <a:ext cx="5486400" cy="16459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760"/>
              </a:lnSpc>
            </a:pPr>
            <a:r>
              <a:rPr sz="1100" b="0">
                <a:solidFill>
                  <a:srgbClr val="1A202C"/>
                </a:solidFill>
                <a:latin typeface="Courier New"/>
              </a:rPr>
              <a:t>def quit():</a:t>
            </a:r>
            <a:br/>
            <a:r>
              <a:t>    for _, info in session_orders.items():</a:t>
            </a:r>
            <a:br/>
            <a:r>
              <a:t>        session_orders_total += info["Total"]</a:t>
            </a:r>
            <a:br/>
            <a:r>
              <a:t>        print(info["Items"])</a:t>
            </a:r>
            <a:br/>
            <a:br/>
            <a:r>
              <a:t>    print(f"{len(session_orders)} orders, "</a:t>
            </a:r>
            <a:br/>
            <a:r>
              <a:t>          f"${session_orders_total:.2f} earned.")</a:t>
            </a:r>
          </a:p>
        </p:txBody>
      </p:sp>
    </p:spTree>
    <p:extLst>
      <p:ext uri="{BB962C8B-B14F-4D97-AF65-F5344CB8AC3E}">
        <p14:creationId xmlns:p14="http://schemas.microsoft.com/office/powerpoint/2010/main" val="2666014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What is Campus Cafe?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5668"/>
                </a:solidFill>
                <a:latin typeface="Calibri"/>
              </a:rPr>
              <a:t>Campus Cafe is a point-of-sale (POS) system for a campus dining environment, supporting customer ordering and staff inventory management. It runs on the terminal AND as a modern web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18288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4864" cy="1645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Customer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Browse menu by category (Salads, Drinks, Desserts, Sandwiches)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Add / remove items from cart with quantity control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Daily special with automatic 20% discount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Checkout with loyalty points &amp; printed receipt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303520" cy="18288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54864" cy="1645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Staff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Secure login with ID + password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View real-time inventory levels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Restock items in bulk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Session summary on quit (all orders + total revenue)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5303520" cy="18288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4864" cy="1645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Dual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Terminal-based CLI application (main.py)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React web application (frontend/)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Both interfaces share the exact same backend 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5303520" cy="18288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389120"/>
            <a:ext cx="54864" cy="1645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Data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All data stored in Excel (.xlsx) files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Orders, customers, inventory, staff records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Loyalty points accumulate across sessions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286000" cy="1097280"/>
          </a:xfrm>
          <a:prstGeom prst="roundRect">
            <a:avLst/>
          </a:prstGeom>
          <a:solidFill>
            <a:srgbClr val="EBF4FF"/>
          </a:solidFill>
          <a:ln w="254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Calibri"/>
              </a:rPr>
              <a:t>Terminal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Calibri"/>
              </a:rPr>
              <a:t>main.py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28800"/>
            <a:ext cx="2286000" cy="1097280"/>
          </a:xfrm>
          <a:prstGeom prst="roundRect">
            <a:avLst/>
          </a:prstGeom>
          <a:solidFill>
            <a:srgbClr val="2B6CB0"/>
          </a:solidFill>
          <a:ln w="254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Backend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40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Menu • Order • Inventory</a:t>
            </a:r>
            <a:br/>
            <a:r>
              <a:t>Customer •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286000" cy="1097280"/>
          </a:xfrm>
          <a:prstGeom prst="roundRect">
            <a:avLst/>
          </a:prstGeom>
          <a:solidFill>
            <a:srgbClr val="EBF4FF"/>
          </a:solidFill>
          <a:ln w="254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Calibri"/>
              </a:rPr>
              <a:t>FastAPI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Calibri"/>
              </a:rPr>
              <a:t>app.py (REST API)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828800"/>
            <a:ext cx="2286000" cy="1097280"/>
          </a:xfrm>
          <a:prstGeom prst="roundRect">
            <a:avLst/>
          </a:prstGeom>
          <a:solidFill>
            <a:srgbClr val="EBF4FF"/>
          </a:solidFill>
          <a:ln w="254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4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Calibri"/>
              </a:rPr>
              <a:t>React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240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Calibri"/>
              </a:rPr>
              <a:t>Vite + React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182CE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182CE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182CE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657600"/>
            <a:ext cx="5669280" cy="822960"/>
          </a:xfrm>
          <a:prstGeom prst="roundRect">
            <a:avLst/>
          </a:prstGeom>
          <a:solidFill>
            <a:srgbClr val="EBF4FF"/>
          </a:solidFill>
          <a:ln w="2540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3703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65D"/>
                </a:solidFill>
                <a:latin typeface="Calibri"/>
              </a:rPr>
              <a:t>Excel 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77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Calibri"/>
              </a:rPr>
              <a:t>Menu.xlsx  •  Orders.xlsx  •  Inventory.xlsx  •  Customers.xlsx  •  Staffs.xlsx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182CE"/>
                </a:solidFill>
                <a:latin typeface="Calibr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60"/>
            <a:ext cx="109728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Design Principle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668"/>
                </a:solidFill>
                <a:latin typeface="Calibri"/>
              </a:rPr>
              <a:t>The backend classes are shared between the CLI and the web app. The FastAPI server wraps the same Python classes that main.py uses, ensuring consistent behavior across both interfaces.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88BB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The Main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BBDD"/>
                </a:solidFill>
                <a:latin typeface="Calibri"/>
              </a:rPr>
              <a:t>CLI application flow and thought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Main Function — Application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main.py: the entry point that orchestrates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668"/>
                </a:solidFill>
                <a:latin typeface="Calibri"/>
              </a:rPr>
              <a:t>Thought Process: We designed main.py as a menu-driven loop. The user sees numbered options, picks one, and the program delegates to a dedicated function. This keeps each feature isolated and the main loop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ENTRY POINT &amp; GLOBAL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303520" cy="2377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760"/>
              </a:lnSpc>
            </a:pPr>
            <a:r>
              <a:rPr sz="1100" b="0" dirty="0">
                <a:solidFill>
                  <a:schemeClr val="tx1"/>
                </a:solidFill>
                <a:latin typeface="Courier New"/>
              </a:rPr>
              <a:t>from </a:t>
            </a:r>
            <a:r>
              <a:rPr sz="1100" b="0" dirty="0" err="1">
                <a:solidFill>
                  <a:schemeClr val="tx1"/>
                </a:solidFill>
                <a:latin typeface="Courier New"/>
              </a:rPr>
              <a:t>backend.menu</a:t>
            </a:r>
            <a:r>
              <a:rPr sz="1100" b="0" dirty="0">
                <a:solidFill>
                  <a:schemeClr val="tx1"/>
                </a:solidFill>
                <a:latin typeface="Courier New"/>
              </a:rPr>
              <a:t> import </a:t>
            </a:r>
            <a:r>
              <a:rPr sz="1100" b="0" dirty="0" err="1">
                <a:solidFill>
                  <a:schemeClr val="tx1"/>
                </a:solidFill>
                <a:latin typeface="Courier New"/>
              </a:rPr>
              <a:t>MenuItem</a:t>
            </a:r>
            <a:r>
              <a:rPr sz="1100" b="0" dirty="0">
                <a:solidFill>
                  <a:schemeClr val="tx1"/>
                </a:solidFill>
                <a:latin typeface="Courier New"/>
              </a:rPr>
              <a:t>, Menu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from </a:t>
            </a:r>
            <a:r>
              <a:rPr dirty="0" err="1">
                <a:solidFill>
                  <a:schemeClr val="tx1"/>
                </a:solidFill>
              </a:rPr>
              <a:t>backend.order</a:t>
            </a:r>
            <a:r>
              <a:rPr dirty="0">
                <a:solidFill>
                  <a:schemeClr val="tx1"/>
                </a:solidFill>
              </a:rPr>
              <a:t> import Order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from </a:t>
            </a:r>
            <a:r>
              <a:rPr dirty="0" err="1">
                <a:solidFill>
                  <a:schemeClr val="tx1"/>
                </a:solidFill>
              </a:rPr>
              <a:t>backend.inventory_ShuranRyu</a:t>
            </a:r>
            <a:r>
              <a:rPr dirty="0">
                <a:solidFill>
                  <a:schemeClr val="tx1"/>
                </a:solidFill>
              </a:rPr>
              <a:t> import Inventory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from </a:t>
            </a:r>
            <a:r>
              <a:rPr dirty="0" err="1">
                <a:solidFill>
                  <a:schemeClr val="tx1"/>
                </a:solidFill>
              </a:rPr>
              <a:t>backend.customer</a:t>
            </a:r>
            <a:r>
              <a:rPr dirty="0">
                <a:solidFill>
                  <a:schemeClr val="tx1"/>
                </a:solidFill>
              </a:rPr>
              <a:t> import Customer, Customers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from </a:t>
            </a:r>
            <a:r>
              <a:rPr dirty="0" err="1">
                <a:solidFill>
                  <a:schemeClr val="tx1"/>
                </a:solidFill>
              </a:rPr>
              <a:t>backend.staff</a:t>
            </a:r>
            <a:r>
              <a:rPr dirty="0">
                <a:solidFill>
                  <a:schemeClr val="tx1"/>
                </a:solidFill>
              </a:rPr>
              <a:t> import Staff, Staffs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MENU  = Menu()        # Load menu from Excel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order = Order(MENU)   # Current order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staffs = Staffs()     # Load staff credentials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session_orders</a:t>
            </a:r>
            <a:r>
              <a:rPr dirty="0">
                <a:solidFill>
                  <a:schemeClr val="tx1"/>
                </a:solidFill>
              </a:rPr>
              <a:t> = {}   # Track all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MAIN_MENU() — THE DRIVING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5303520" cy="23774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760"/>
              </a:lnSpc>
            </a:pPr>
            <a:r>
              <a:rPr sz="1100" b="0" dirty="0">
                <a:solidFill>
                  <a:schemeClr val="tx1"/>
                </a:solidFill>
                <a:latin typeface="Courier New"/>
              </a:rPr>
              <a:t>def </a:t>
            </a:r>
            <a:r>
              <a:rPr sz="1100" b="0" dirty="0" err="1">
                <a:solidFill>
                  <a:schemeClr val="tx1"/>
                </a:solidFill>
                <a:latin typeface="Courier New"/>
              </a:rPr>
              <a:t>main_menu</a:t>
            </a:r>
            <a:r>
              <a:rPr sz="1100" b="0" dirty="0">
                <a:solidFill>
                  <a:schemeClr val="tx1"/>
                </a:solidFill>
                <a:latin typeface="Courier New"/>
              </a:rPr>
              <a:t>():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while True: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# Display options to user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choice = input("Enter your choice: ")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if   choice == "1": </a:t>
            </a:r>
            <a:r>
              <a:rPr dirty="0" err="1">
                <a:solidFill>
                  <a:schemeClr val="tx1"/>
                </a:solidFill>
              </a:rPr>
              <a:t>view_menu</a:t>
            </a:r>
            <a:r>
              <a:rPr dirty="0">
                <a:solidFill>
                  <a:schemeClr val="tx1"/>
                </a:solidFill>
              </a:rPr>
              <a:t>()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</a:t>
            </a:r>
            <a:r>
              <a:rPr dirty="0" err="1">
                <a:solidFill>
                  <a:schemeClr val="tx1"/>
                </a:solidFill>
              </a:rPr>
              <a:t>elif</a:t>
            </a:r>
            <a:r>
              <a:rPr dirty="0">
                <a:solidFill>
                  <a:schemeClr val="tx1"/>
                </a:solidFill>
              </a:rPr>
              <a:t> choice == "2": </a:t>
            </a:r>
            <a:r>
              <a:rPr dirty="0" err="1">
                <a:solidFill>
                  <a:schemeClr val="tx1"/>
                </a:solidFill>
              </a:rPr>
              <a:t>order_item</a:t>
            </a:r>
            <a:r>
              <a:rPr dirty="0">
                <a:solidFill>
                  <a:schemeClr val="tx1"/>
                </a:solidFill>
              </a:rPr>
              <a:t>()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</a:t>
            </a:r>
            <a:r>
              <a:rPr dirty="0" err="1">
                <a:solidFill>
                  <a:schemeClr val="tx1"/>
                </a:solidFill>
              </a:rPr>
              <a:t>elif</a:t>
            </a:r>
            <a:r>
              <a:rPr dirty="0">
                <a:solidFill>
                  <a:schemeClr val="tx1"/>
                </a:solidFill>
              </a:rPr>
              <a:t> choice == "3": </a:t>
            </a:r>
            <a:r>
              <a:rPr dirty="0" err="1">
                <a:solidFill>
                  <a:schemeClr val="tx1"/>
                </a:solidFill>
              </a:rPr>
              <a:t>delete_item</a:t>
            </a:r>
            <a:r>
              <a:rPr dirty="0">
                <a:solidFill>
                  <a:schemeClr val="tx1"/>
                </a:solidFill>
              </a:rPr>
              <a:t>()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</a:t>
            </a:r>
            <a:r>
              <a:rPr dirty="0" err="1">
                <a:solidFill>
                  <a:schemeClr val="tx1"/>
                </a:solidFill>
              </a:rPr>
              <a:t>elif</a:t>
            </a:r>
            <a:r>
              <a:rPr dirty="0">
                <a:solidFill>
                  <a:schemeClr val="tx1"/>
                </a:solidFill>
              </a:rPr>
              <a:t> choice == "4": </a:t>
            </a:r>
            <a:r>
              <a:rPr dirty="0" err="1">
                <a:solidFill>
                  <a:schemeClr val="tx1"/>
                </a:solidFill>
              </a:rPr>
              <a:t>view_cart</a:t>
            </a:r>
            <a:r>
              <a:rPr dirty="0">
                <a:solidFill>
                  <a:schemeClr val="tx1"/>
                </a:solidFill>
              </a:rPr>
              <a:t>()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</a:t>
            </a:r>
            <a:r>
              <a:rPr dirty="0" err="1">
                <a:solidFill>
                  <a:schemeClr val="tx1"/>
                </a:solidFill>
              </a:rPr>
              <a:t>elif</a:t>
            </a:r>
            <a:r>
              <a:rPr dirty="0">
                <a:solidFill>
                  <a:schemeClr val="tx1"/>
                </a:solidFill>
              </a:rPr>
              <a:t> choice == "5": checkout()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</a:t>
            </a:r>
            <a:r>
              <a:rPr dirty="0" err="1">
                <a:solidFill>
                  <a:schemeClr val="tx1"/>
                </a:solidFill>
              </a:rPr>
              <a:t>elif</a:t>
            </a:r>
            <a:r>
              <a:rPr dirty="0">
                <a:solidFill>
                  <a:schemeClr val="tx1"/>
                </a:solidFill>
              </a:rPr>
              <a:t> choice == "s": </a:t>
            </a:r>
            <a:r>
              <a:rPr dirty="0" err="1">
                <a:solidFill>
                  <a:schemeClr val="tx1"/>
                </a:solidFill>
              </a:rPr>
              <a:t>login_staff_system</a:t>
            </a:r>
            <a:r>
              <a:rPr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46320"/>
            <a:ext cx="10972800" cy="11887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Why This Design?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668"/>
                </a:solidFill>
                <a:latin typeface="Calibri"/>
              </a:rPr>
              <a:t>Each function (view_menu, order_item, checkout, etc.) is self-contained with its own input loop and validation. Global state (MENU, order, session_orders) is initialized once at the top and shared across functions. This mirrors how a real POS works — one session, one shared order, one menu.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Main Function — Ordering &amp;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Input validation, stock checking, and receipt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ORDER_ITEM() — WITH STOCK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2560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760"/>
              </a:lnSpc>
            </a:pPr>
            <a:r>
              <a:rPr sz="1100" b="0">
                <a:solidFill>
                  <a:srgbClr val="1A202C"/>
                </a:solidFill>
                <a:latin typeface="Courier New"/>
              </a:rPr>
              <a:t>def order_item():</a:t>
            </a:r>
            <a:br/>
            <a:r>
              <a:t>    item = MENU.get_item(item_name)</a:t>
            </a:r>
            <a:br/>
            <a:r>
              <a:t>    # Validate quantity (try/except for int)</a:t>
            </a:r>
            <a:br/>
            <a:br/>
            <a:r>
              <a:t>    inventory = Inventory()</a:t>
            </a:r>
            <a:br/>
            <a:r>
              <a:t>    counter = 0</a:t>
            </a:r>
            <a:br/>
            <a:r>
              <a:t>    for i in range(num_int):</a:t>
            </a:r>
            <a:br/>
            <a:r>
              <a:t>        if inventory.check_stock(item):</a:t>
            </a:r>
            <a:br/>
            <a:r>
              <a:t>            counter += 1</a:t>
            </a:r>
            <a:br/>
            <a:r>
              <a:t>            order.add_to_order(item)</a:t>
            </a:r>
            <a:br/>
            <a:r>
              <a:t>            inventory.deduct_stock(item)</a:t>
            </a:r>
            <a:br/>
            <a:r>
              <a:t>            inventory.save_to_excel()</a:t>
            </a:r>
            <a:br/>
            <a:r>
              <a:t>        else:</a:t>
            </a:r>
            <a:br/>
            <a:r>
              <a:t>            print("Out of stock")</a:t>
            </a:r>
            <a:br/>
            <a:r>
              <a:t>            break</a:t>
            </a:r>
            <a:br/>
            <a:r>
              <a:t>    print(f"You have ordered {counter} {item.name}.")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CHECKOUT() — RECEIPT &amp; LOYALTY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25603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lnSpc>
                <a:spcPts val="1760"/>
              </a:lnSpc>
            </a:pPr>
            <a:r>
              <a:rPr sz="1100" b="0">
                <a:solidFill>
                  <a:srgbClr val="1A202C"/>
                </a:solidFill>
                <a:latin typeface="Courier New"/>
              </a:rPr>
              <a:t>def checkout():</a:t>
            </a:r>
            <a:br/>
            <a:r>
              <a:t>    subtotal = order.get_total()</a:t>
            </a:r>
            <a:br/>
            <a:r>
              <a:t>    total_before_tax = order.get_total_after_discount()</a:t>
            </a:r>
            <a:br/>
            <a:r>
              <a:t>    discount = subtotal - total_before_tax</a:t>
            </a:r>
            <a:br/>
            <a:r>
              <a:t>    tax = order.TAX_RATE * total_before_tax</a:t>
            </a:r>
            <a:br/>
            <a:r>
              <a:t>    total = total_before_tax + tax</a:t>
            </a:r>
            <a:br/>
            <a:br/>
            <a:r>
              <a:t>    # Loyalty points</a:t>
            </a:r>
            <a:br/>
            <a:r>
              <a:t>    customers = Customers()</a:t>
            </a:r>
            <a:br/>
            <a:r>
              <a:t>    if customers.check_customer(telephone):</a:t>
            </a:r>
            <a:br/>
            <a:r>
              <a:t>        customer = customers.get_customer(telephone)</a:t>
            </a:r>
            <a:br/>
            <a:r>
              <a:t>        customer.earn_points(total)</a:t>
            </a:r>
            <a:br/>
            <a:r>
              <a:t>    else:</a:t>
            </a:r>
            <a:br/>
            <a:r>
              <a:t>        customer = Customer(telephone)</a:t>
            </a:r>
            <a:br/>
            <a:r>
              <a:t>        customer.earn_points(total)</a:t>
            </a:r>
            <a:br/>
            <a:r>
              <a:t>        customers.add_customer(customer)</a:t>
            </a:r>
            <a:br/>
            <a:br/>
            <a:r>
              <a:t>    # Save &amp; track session</a:t>
            </a:r>
            <a:br/>
            <a:r>
              <a:t>    order.save_to_excel()</a:t>
            </a:r>
            <a:br/>
            <a:r>
              <a:t>    session_orders[len(session_orders)] = {...}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5303520" cy="1645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Calibri"/>
              </a:rPr>
              <a:t>Key Decision: Per-Unit Stock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668"/>
                </a:solidFill>
                <a:latin typeface="Calibri"/>
              </a:rPr>
              <a:t>We check stock per unit in a loop rather than checking total availability upfront. This enables partial fulfillment — if 3 are requested but only 2 remain, the customer gets 2 instead of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89120"/>
            <a:ext cx="5303520" cy="1645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Calibri"/>
              </a:rPr>
              <a:t>Key Decision: Auto Customer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8006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668"/>
                </a:solidFill>
                <a:latin typeface="Calibri"/>
              </a:rPr>
              <a:t>At checkout, we check if the phone number exists. Returning customers earn more points; new customers are automatically registered. No signup flow needed — frictionless loyalty.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88BB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Data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BBDD"/>
                </a:solidFill>
                <a:latin typeface="Calibri"/>
              </a:rPr>
              <a:t>Excel-based tracking for orders, customers, and inventory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Excel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All data persisted to .xlsx files using pandas + openpyxl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Columns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Menu.xlsx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Menu items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item_name, price,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Orders.xlsx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Complete order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order_id, total, date, time, [item quantities]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Inventory.xlsx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Current stock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Item Name, Stock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Customers.xlsx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Customer profiles &amp; loyalty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customer_id, name, telephone,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Staffs.xlsx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Staff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A5668"/>
                          </a:solidFill>
                          <a:latin typeface="Calibri"/>
                        </a:rPr>
                        <a:t>staff_id, name, telephone,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389120"/>
            <a:ext cx="10972800" cy="1645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  <a:latin typeface="Calibri"/>
              </a:rPr>
              <a:t>★  Special Feature: Loyalty Points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668"/>
                </a:solidFill>
                <a:latin typeface="Calibri"/>
              </a:rPr>
              <a:t>Every checkout automatically identifies returning customers by phone number, accumulates their loyalty points in Customers.xlsx, and displays the updated balance on the receipt. New customers are auto-registered on first purchase with a unique 9-digit ID. All data persists across sessions — no data is lost when the program restarts.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88BB"/>
                </a:solidFill>
                <a:latin typeface="Calibri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Frontend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BBDD"/>
                </a:solidFill>
                <a:latin typeface="Calibri"/>
              </a:rPr>
              <a:t>A React web interface built on top of the same backend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React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Modern web interface for the Campus Cafe 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668"/>
                </a:solidFill>
                <a:latin typeface="Calibri"/>
              </a:rPr>
              <a:t>To make our project more accessible and visually engaging, we built a full web application using React. A FastAPI server (app.py) wraps the exact same backend classes, exposing them as REST API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383280" cy="192024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1737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React 18 + Vite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React Router v6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FastAPI (Python)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Vite proxy for API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11680"/>
            <a:ext cx="3383280" cy="192024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2103120"/>
            <a:ext cx="54864" cy="1737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Customer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423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Home — landing page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Menu — browse by category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Cart — review &amp; edit quantities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Checkout — pay &amp; get receipt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011680"/>
            <a:ext cx="3383280" cy="192024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63840" y="2103120"/>
            <a:ext cx="54864" cy="1737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Staff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4231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Staff Login — secure auth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Inventory Management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Restock items in bulk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Session summary on quit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109728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Same Backend, Two Interfaces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668"/>
                </a:solidFill>
                <a:latin typeface="Calibri"/>
              </a:rPr>
              <a:t>Both the terminal CLI and the React frontend call the same Python classes. The web app adds a visual layer on top without duplicating any business logic. This demonstrates clean separation of concerns — the backend handles data and rules, while the frontend handles presentation.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Frontend —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EE"/>
                </a:solidFill>
                <a:latin typeface="Calibri"/>
              </a:rPr>
              <a:t>Interactive UI with real-time stock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201168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Menu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4 category tabs (Salads, Drinks, Desserts, Sandwiches)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Daily special banner with discount badge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Inline quantity controls (+/-) with stock validation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Toast notifications when stock is insufficient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01168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4864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Cart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Editable quantities (type or +/- buttons)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Real-time price summary with tax &amp; discount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Stock validation on quantity increase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Clear cart functionality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03520" cy="201168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749040"/>
            <a:ext cx="54864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Checkout &amp; Receipt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Phone number entry for loyalty points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Full receipt with itemized breakdown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Auto-redirect to home after 8 seconds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Automatic customer registration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303520" cy="201168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749040"/>
            <a:ext cx="54864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Staff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Inventory table with low-stock highlighting (red)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Restock form with dropdown item selection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Navbar "Quit" button triggers session summary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Modal shows all orders with item details + revenue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Campus Cafe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155448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" cy="13716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Object-Oriented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5 backend classes with clear responsibilities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Entity + Collection pattern for Customer and Staff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Consistent Excel I/O interface across all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155448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" cy="13716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Collaborative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Integrated classmate's Inventory class seamlessly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Demonstrates real-world teamwork and code merging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Aligned interfaces for smooth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303520" cy="155448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54864" cy="13716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Full-Stack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Terminal CLI + React web app sharing same backend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FastAPI bridges Python classes to a modern web UI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Clean separation of concerns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5303520" cy="155448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291840"/>
            <a:ext cx="54864" cy="13716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Data 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Excel-based storage for all entities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Loyalty points accumulate across sessions</a:t>
            </a:r>
          </a:p>
          <a:p>
            <a:pPr marL="274320" indent="-182880">
              <a:spcAft>
                <a:spcPts val="600"/>
              </a:spcAft>
              <a:buChar char="•"/>
            </a:pPr>
            <a:r>
              <a:rPr sz="1200" b="0">
                <a:solidFill>
                  <a:srgbClr val="4A5668"/>
                </a:solidFill>
                <a:latin typeface="Calibri"/>
              </a:rPr>
              <a:t>Complete order history with timestamps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09728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65D"/>
                </a:solidFill>
                <a:latin typeface="Calibri"/>
              </a:rPr>
              <a:t>What We Learned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668"/>
                </a:solidFill>
                <a:latin typeface="Calibri"/>
              </a:rPr>
              <a:t>This project reinforced OOP principles (encapsulation, separation of concerns), data persistence with pandas, input validation patterns, and how to extend a CLI application into a full-stack web application without rewriting business logic.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DEE"/>
                </a:solidFill>
                <a:latin typeface="Calibri"/>
              </a:rPr>
              <a:t>Questions &amp; 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749039"/>
            <a:ext cx="2103120" cy="27432"/>
          </a:xfrm>
          <a:prstGeom prst="rect">
            <a:avLst/>
          </a:prstGeom>
          <a:solidFill>
            <a:srgbClr val="66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9BBDD"/>
                </a:solidFill>
                <a:latin typeface="Calibri"/>
              </a:rPr>
              <a:t>Campus Cafe — NEU 5001 Final Project</a:t>
            </a:r>
            <a:br/>
            <a:r>
              <a:t>Python  •  FastAPI  •  React  •  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3305</Words>
  <Application>Microsoft Macintosh PowerPoint</Application>
  <PresentationFormat>Widescreen</PresentationFormat>
  <Paragraphs>234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Elena Wang</cp:lastModifiedBy>
  <cp:revision>2</cp:revision>
  <dcterms:created xsi:type="dcterms:W3CDTF">2013-01-27T09:14:16Z</dcterms:created>
  <dcterms:modified xsi:type="dcterms:W3CDTF">2026-04-22T20:33:29Z</dcterms:modified>
  <cp:category/>
</cp:coreProperties>
</file>